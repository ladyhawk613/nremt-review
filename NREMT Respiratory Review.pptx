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</p:sldIdLst>
  <p:sldSz cy="5143500" cx="9144000"/>
  <p:notesSz cx="5143500" cy="9144000"/>
  <p:embeddedFontLst>
    <p:embeddedFont>
      <p:font typeface="Caveat"/>
      <p:regular r:id="rId93"/>
      <p:bold r:id="rId94"/>
    </p:embeddedFont>
    <p:embeddedFont>
      <p:font typeface="Inter"/>
      <p:regular r:id="rId95"/>
      <p:bold r:id="rId96"/>
      <p:italic r:id="rId97"/>
      <p:boldItalic r:id="rId98"/>
    </p:embeddedFont>
    <p:embeddedFont>
      <p:font typeface="Inter ExtraBold"/>
      <p:bold r:id="rId99"/>
      <p:boldItalic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1" roundtripDataSignature="AMtx7mjca4GUOLiDmfkEsyLugM6Eb0T0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6772A8-AD08-441B-8891-F59D88E8F87B}">
  <a:tblStyle styleId="{D76772A8-AD08-441B-8891-F59D88E8F87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EF557DD-5C5F-41BA-87C9-589532613CB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199B090-F738-41EA-9B92-42F0957E465E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1" Type="http://customschemas.google.com/relationships/presentationmetadata" Target="metadata"/><Relationship Id="rId100" Type="http://schemas.openxmlformats.org/officeDocument/2006/relationships/font" Target="fonts/InterExtraBold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Inter-regular.fntdata"/><Relationship Id="rId94" Type="http://schemas.openxmlformats.org/officeDocument/2006/relationships/font" Target="fonts/Caveat-bold.fntdata"/><Relationship Id="rId97" Type="http://schemas.openxmlformats.org/officeDocument/2006/relationships/font" Target="fonts/Inter-italic.fntdata"/><Relationship Id="rId96" Type="http://schemas.openxmlformats.org/officeDocument/2006/relationships/font" Target="fonts/Inter-bold.fntdata"/><Relationship Id="rId11" Type="http://schemas.openxmlformats.org/officeDocument/2006/relationships/slide" Target="slides/slide6.xml"/><Relationship Id="rId99" Type="http://schemas.openxmlformats.org/officeDocument/2006/relationships/font" Target="fonts/InterExtraBold-bold.fntdata"/><Relationship Id="rId10" Type="http://schemas.openxmlformats.org/officeDocument/2006/relationships/slide" Target="slides/slide5.xml"/><Relationship Id="rId98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Caveat-regular.fntdata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d80420a4a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d80420a4a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ed80420a4a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d80420a4a_0_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ed80420a4a_0_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g3ed80420a4a_0_4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197701899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g3f197701899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g3f197701899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197701899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g3f197701899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g3f197701899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197701899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f197701899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g3f197701899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197701899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f197701899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g3f197701899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197701899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197701899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f197701899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19770189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19770189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3f197701899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dbf962bca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edbf962bca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edbf962bca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197701899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197701899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f197701899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197701899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197701899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f197701899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97701899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197701899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f197701899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197701899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f197701899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f197701899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197701899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197701899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f197701899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197701899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197701899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f197701899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197701899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f197701899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f197701899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197701899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197701899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f197701899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dbf962bca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dbf962bca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edbf962bca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197701899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197701899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f197701899_0_1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197701899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f197701899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f197701899_0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97701899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f197701899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f197701899_0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197701899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197701899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f197701899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197701899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197701899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f197701899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97701899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f197701899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f197701899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c5e4a4fa1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ec5e4a4fa1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ec5e4a4fa1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dbf962bca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edbf962bca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edbf962bca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dbf962bca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edbf962bca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edbf962bca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dbf962bca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dbf962bca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edbf962bca_0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dbf962bca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edbf962bca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edbf962bca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d80420a4a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ed80420a4a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ed80420a4a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197701899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197701899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197701899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197701899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197701899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f197701899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197701899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197701899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197701899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197701899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197701899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197701899_0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197701899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197701899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197701899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197701899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197701899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197701899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197701899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197701899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197701899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197701899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197701899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197701899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197701899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197701899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f197701899_0_2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197701899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197701899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197701899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197701899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197701899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197701899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197701899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197701899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197701899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d80420a4a_0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ed80420a4a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ed80420a4a_0_3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197701899_0_4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f197701899_0_4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f197701899_0_4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d80420a4a_0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ed80420a4a_0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g3ed80420a4a_0_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dbf962bca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edbf962bca_0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3edbf962bca_0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dbf962bca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edbf962bca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g3edbf962bca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dbf962bca_0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edbf962bca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g3edbf962bca_0_3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db9a03c9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edb9a03c9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edb9a03c94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177910993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f177910993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3f177910993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17791099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f17791099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g3f177910993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c613c894b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ec613c894b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3ec613c894b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dbf962bca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3edbf962bca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edbf962bca_0_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dbf962bca_0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edbf962bca_0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g3edbf962bca_0_2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dbf962bca_0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edbf962bca_0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g3edbf962bca_0_2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197701899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f197701899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g3f197701899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dbf962bca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edbf962bca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edbf962bca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197701899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f197701899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f197701899_0_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dbf962bca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edbf962bca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g3edbf962bca_0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197701899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197701899_0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g3f197701899_0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197701899_0_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f197701899_0_3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g3f197701899_0_3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dbf962bc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edbf962bc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edbf962bc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dbf962bca_0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edbf962bca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edbf962bca_0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197701899_0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f197701899_0_3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g3f197701899_0_3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197701899_0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f197701899_0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3f197701899_0_3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197701899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f197701899_0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g3f197701899_0_3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197701899_0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f197701899_0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f197701899_0_3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197701899_0_4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f197701899_0_4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g3f197701899_0_4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197701899_0_3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f197701899_0_3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g3f197701899_0_3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197701899_0_4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f197701899_0_4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3f197701899_0_4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197701899_0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f197701899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3f197701899_0_3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197701899_0_4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f197701899_0_4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f197701899_0_4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197701899_0_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f197701899_0_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g3f197701899_0_3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197701899_0_4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f197701899_0_4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g3f197701899_0_4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197701899_0_3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f197701899_0_3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g3f197701899_0_3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197701899_0_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f197701899_0_4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g3f197701899_0_4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197701899_0_4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f197701899_0_4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f197701899_0_4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197701899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f197701899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g3f197701899_0_3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197701899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f197701899_0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g3f197701899_0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197701899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f197701899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g3f197701899_0_4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197701899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f197701899_0_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g3f197701899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197701899_0_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f197701899_0_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f197701899_0_4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197701899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f197701899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9" name="Google Shape;649;g3f197701899_0_3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197701899_0_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f197701899_0_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f197701899_0_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edbf962bca_0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edbf962bca_0_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g3edbf962bca_0_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edbf962bca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edbf962bca_0_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g3edbf962bca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dbf962bca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g3edbf962bca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3edbf962bca_0_2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g3ed80420a4a_0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ed80420a4a_0_228"/>
          <p:cNvSpPr/>
          <p:nvPr/>
        </p:nvSpPr>
        <p:spPr>
          <a:xfrm>
            <a:off x="5900738" y="750094"/>
            <a:ext cx="2600400" cy="26004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8275">
            <a:solidFill>
              <a:srgbClr val="38BDF8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3ed80420a4a_0_228"/>
          <p:cNvSpPr/>
          <p:nvPr/>
        </p:nvSpPr>
        <p:spPr>
          <a:xfrm>
            <a:off x="7215188" y="407194"/>
            <a:ext cx="14400" cy="3257700"/>
          </a:xfrm>
          <a:prstGeom prst="rect">
            <a:avLst/>
          </a:prstGeom>
          <a:solidFill>
            <a:srgbClr val="F59E0B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g3ed80420a4a_0_228"/>
          <p:cNvSpPr/>
          <p:nvPr/>
        </p:nvSpPr>
        <p:spPr>
          <a:xfrm>
            <a:off x="5586413" y="2035969"/>
            <a:ext cx="3257700" cy="14400"/>
          </a:xfrm>
          <a:prstGeom prst="rect">
            <a:avLst/>
          </a:prstGeom>
          <a:solidFill>
            <a:srgbClr val="38BDF8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ed80420a4a_0_228"/>
          <p:cNvSpPr/>
          <p:nvPr/>
        </p:nvSpPr>
        <p:spPr>
          <a:xfrm>
            <a:off x="585800" y="1394500"/>
            <a:ext cx="5143500" cy="27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Inter"/>
              <a:buChar char="❏"/>
            </a:pPr>
            <a:r>
              <a:rPr b="0" i="0" lang="en-US" sz="2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Vocabulary</a:t>
            </a:r>
            <a:endParaRPr b="0" i="0" sz="2000" u="none" cap="none" strike="noStrike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Inter"/>
              <a:buChar char="❏"/>
            </a:pPr>
            <a:r>
              <a:rPr b="0" i="0" lang="en-US" sz="2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Numbers Review</a:t>
            </a:r>
            <a:endParaRPr b="0" i="0" sz="2000" u="none" cap="none" strike="noStrike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Inter"/>
              <a:buChar char="❏"/>
            </a:pPr>
            <a:r>
              <a:rPr lang="en-US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Airway, Ventilation, Oxygenation</a:t>
            </a:r>
            <a:endParaRPr sz="2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Inter"/>
              <a:buChar char="❏"/>
            </a:pPr>
            <a:r>
              <a:rPr lang="en-US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Respiratory Distress vs</a:t>
            </a:r>
            <a:r>
              <a:rPr lang="en-US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 Failure</a:t>
            </a:r>
            <a:endParaRPr sz="2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Inter"/>
              <a:buChar char="❏"/>
            </a:pPr>
            <a:r>
              <a:rPr lang="en-US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Common Respiratory Emergencies</a:t>
            </a:r>
            <a:endParaRPr sz="2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Inter"/>
              <a:buChar char="❏"/>
            </a:pPr>
            <a:r>
              <a:rPr lang="en-US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Common Breath Sounds</a:t>
            </a:r>
            <a:endParaRPr sz="2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Inter"/>
              <a:buChar char="❏"/>
            </a:pPr>
            <a:r>
              <a:rPr b="0" i="0" lang="en-US" sz="2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Practice Questions</a:t>
            </a:r>
            <a:endParaRPr b="0" i="0" sz="2000" u="none" cap="none" strike="noStrike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Google Shape;21;g3ed80420a4a_0_228"/>
          <p:cNvSpPr/>
          <p:nvPr/>
        </p:nvSpPr>
        <p:spPr>
          <a:xfrm>
            <a:off x="661659" y="4521761"/>
            <a:ext cx="978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7F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DDE7F0"/>
                </a:solidFill>
                <a:latin typeface="Inter"/>
                <a:ea typeface="Inter"/>
                <a:cs typeface="Inter"/>
                <a:sym typeface="Inter"/>
              </a:rPr>
              <a:t>NREMT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ed80420a4a_0_228"/>
          <p:cNvSpPr/>
          <p:nvPr/>
        </p:nvSpPr>
        <p:spPr>
          <a:xfrm>
            <a:off x="661650" y="191100"/>
            <a:ext cx="55782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50"/>
              <a:buFont typeface="Inter ExtraBold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Essential </a:t>
            </a:r>
            <a:r>
              <a:rPr b="1" lang="en-US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Respiratory</a:t>
            </a:r>
            <a:r>
              <a:rPr b="1" i="0" lang="en-US" sz="36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Review</a:t>
            </a:r>
            <a:endParaRPr b="1" i="0" sz="3600" u="none" cap="none" strike="noStrike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d80420a4a_0_421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g3ed80420a4a_0_421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0" name="Google Shape;30;g3ed80420a4a_0_421"/>
          <p:cNvGraphicFramePr/>
          <p:nvPr/>
        </p:nvGraphicFramePr>
        <p:xfrm>
          <a:off x="445500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544500"/>
                <a:gridCol w="5577700"/>
              </a:tblGrid>
              <a:tr h="44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Angina</a:t>
                      </a:r>
                      <a:endParaRPr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Myocardial Infarction (MI)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Perfusion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Cardiac Output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Stroke Volume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Bradycardia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197701899_0_53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g3f197701899_0_53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8" name="Google Shape;38;g3f197701899_0_53"/>
          <p:cNvGraphicFramePr/>
          <p:nvPr/>
        </p:nvGraphicFramePr>
        <p:xfrm>
          <a:off x="445500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544500"/>
                <a:gridCol w="5577700"/>
              </a:tblGrid>
              <a:tr h="44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Angina</a:t>
                      </a:r>
                      <a:endParaRPr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Chest pain or discomfort caused by reduced blood flow to the heart muscle.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Myocardial Infarction (MI)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Perfusion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Cardiac Output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Stroke Volume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Bradycardia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197701899_0_46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g3f197701899_0_46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6" name="Google Shape;46;g3f197701899_0_46"/>
          <p:cNvGraphicFramePr/>
          <p:nvPr/>
        </p:nvGraphicFramePr>
        <p:xfrm>
          <a:off x="445500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544500"/>
                <a:gridCol w="5577700"/>
              </a:tblGrid>
              <a:tr h="44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Angina</a:t>
                      </a:r>
                      <a:endParaRPr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Chest pain or discomfort caused by reduced blood flow to the heart muscle.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Myocardial Infarction (MI)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Death of heart muscle tissue due to prolonged lack of blood flow; a heart attack.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Perfusion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Cardiac Output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Stroke Volume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Bradycardia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97701899_0_39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g3f197701899_0_39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4" name="Google Shape;54;g3f197701899_0_39"/>
          <p:cNvGraphicFramePr/>
          <p:nvPr/>
        </p:nvGraphicFramePr>
        <p:xfrm>
          <a:off x="445500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544500"/>
                <a:gridCol w="5577700"/>
              </a:tblGrid>
              <a:tr h="44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Angina</a:t>
                      </a:r>
                      <a:endParaRPr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Chest pain or discomfort caused by reduced blood flow to the heart muscle.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Myocardial Infarction (MI)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Death of heart muscle tissue due to prolonged lack of blood flow; a heart attack.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Perfusion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The circulation of blood through tissues to deliver oxygen and nutrients.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Cardiac Output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Stroke Volume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Bradycardia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97701899_0_32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g3f197701899_0_32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2" name="Google Shape;62;g3f197701899_0_32"/>
          <p:cNvGraphicFramePr/>
          <p:nvPr/>
        </p:nvGraphicFramePr>
        <p:xfrm>
          <a:off x="445500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544500"/>
                <a:gridCol w="5577700"/>
              </a:tblGrid>
              <a:tr h="44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Angina</a:t>
                      </a:r>
                      <a:endParaRPr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Chest pain or discomfort caused by reduced blood flow to the heart muscle.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Myocardial Infarction (MI)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Death of heart muscle tissue due to prolonged lack of blood flow; a heart attack.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Perfusion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The circulation of blood through tissues to deliver oxygen and nutrients.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Cardiac Output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The amount of blood pumped by the heart in one minute.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Stroke Volume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Bradycardia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197701899_0_25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g3f197701899_0_25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0" name="Google Shape;70;g3f197701899_0_25"/>
          <p:cNvGraphicFramePr/>
          <p:nvPr/>
        </p:nvGraphicFramePr>
        <p:xfrm>
          <a:off x="445500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544500"/>
                <a:gridCol w="5577700"/>
              </a:tblGrid>
              <a:tr h="44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Angina</a:t>
                      </a:r>
                      <a:endParaRPr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Chest pain or discomfort caused by reduced blood flow to the heart muscle.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Myocardial Infarction (MI)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Death of heart muscle tissue due to prolonged lack of blood flow; a heart attack.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Perfusion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The circulation of blood through tissues to deliver oxygen and nutrients.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Cardiac Output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The amount of blood pumped by the heart in one minute.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Stroke Volume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The amount of blood ejected by the left ventricle with each heartbeat.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Bradycardia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97701899_0_18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g3f197701899_0_18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8" name="Google Shape;78;g3f197701899_0_18"/>
          <p:cNvGraphicFramePr/>
          <p:nvPr/>
        </p:nvGraphicFramePr>
        <p:xfrm>
          <a:off x="445500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544500"/>
                <a:gridCol w="5577700"/>
              </a:tblGrid>
              <a:tr h="44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Angina</a:t>
                      </a:r>
                      <a:endParaRPr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Chest pain or discomfort caused by reduced blood flow to the heart muscle.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Myocardial Infarction (MI)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Death of heart muscle tissue due to prolonged lack of blood flow; a heart attack.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Perfusion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The circulation of blood through tissues to deliver oxygen and nutrients.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Cardiac Output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The amount of blood pumped by the heart in one minute.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Stroke Volume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The amount of blood ejected by the left ventricle with each heartbeat.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Bradycardia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Heart rate less than 60 beats per minute in an adult.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bf962bca_0_48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g3edbf962bca_0_48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6" name="Google Shape;86;g3edbf962bca_0_48"/>
          <p:cNvGraphicFramePr/>
          <p:nvPr/>
        </p:nvGraphicFramePr>
        <p:xfrm>
          <a:off x="5061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197701899_0_109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g3f197701899_0_109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4" name="Google Shape;94;g3f197701899_0_109"/>
          <p:cNvGraphicFramePr/>
          <p:nvPr/>
        </p:nvGraphicFramePr>
        <p:xfrm>
          <a:off x="506125" y="92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197701899_0_102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g3f197701899_0_102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2" name="Google Shape;102;g3f197701899_0_102"/>
          <p:cNvGraphicFramePr/>
          <p:nvPr/>
        </p:nvGraphicFramePr>
        <p:xfrm>
          <a:off x="5061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Temporary loss of consciousness caused by decreased blood flow to the brain; fainting.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197701899_0_95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g3f197701899_0_95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0" name="Google Shape;110;g3f197701899_0_95"/>
          <p:cNvGraphicFramePr/>
          <p:nvPr/>
        </p:nvGraphicFramePr>
        <p:xfrm>
          <a:off x="5061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Temporary loss of consciousness caused by decreased blood flow to the brain; fainting.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Shock caused by the heart's inability to pump blood effectively.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197701899_0_88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g3f197701899_0_88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8" name="Google Shape;118;g3f197701899_0_88"/>
          <p:cNvGraphicFramePr/>
          <p:nvPr/>
        </p:nvGraphicFramePr>
        <p:xfrm>
          <a:off x="5061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Temporary loss of consciousness caused by decreased blood flow to the brain; fainting.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the heart's inability to pump blood effectively.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Shock caused by significant loss of blood or body fluids.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97701899_0_81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g3f197701899_0_81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6" name="Google Shape;126;g3f197701899_0_81"/>
          <p:cNvGraphicFramePr/>
          <p:nvPr/>
        </p:nvGraphicFramePr>
        <p:xfrm>
          <a:off x="5061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Temporary loss of consciousness caused by decreased blood flow to the brain; fainting.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the heart's inability to pump blood effectively.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significant loss of blood or body fluids.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Shock caused by a severe infection leading to widespread vasodilation and poor perfusion.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197701899_0_74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g3f197701899_0_74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4" name="Google Shape;134;g3f197701899_0_74"/>
          <p:cNvGraphicFramePr/>
          <p:nvPr/>
        </p:nvGraphicFramePr>
        <p:xfrm>
          <a:off x="5061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Temporary loss of consciousness caused by decreased blood flow to the brain; fainting.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the heart's inability to pump blood effectively.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significant loss of blood or body fluids.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a severe infection leading to widespread vasodilation and poor perfusion.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Shock caused by a physical obstruction preventing adequate circulation (e.g., tension pneumothorax, cardiac tamponade).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197701899_0_67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g3f197701899_0_67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42" name="Google Shape;142;g3f197701899_0_67"/>
          <p:cNvGraphicFramePr/>
          <p:nvPr/>
        </p:nvGraphicFramePr>
        <p:xfrm>
          <a:off x="5061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Temporary loss of consciousness caused by decreased blood flow to the brain; fainting.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the heart's inability to pump blood effectively.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significant loss of blood or body fluids.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a severe infection leading to widespread vasodilation and poor perfusion.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a physical obstruction preventing adequate circulation (e.g., tension pneumothorax, cardiac tamponade).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Early stage of shock in which the body maintains blood pressure through compensatory mechanisms.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197701899_0_60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g3f197701899_0_60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0" name="Google Shape;150;g3f197701899_0_60"/>
          <p:cNvGraphicFramePr/>
          <p:nvPr/>
        </p:nvGraphicFramePr>
        <p:xfrm>
          <a:off x="506125" y="8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272025"/>
                <a:gridCol w="5859725"/>
              </a:tblGrid>
              <a:tr h="39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Tachycardia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Heart rate greater than 100 beats per minute in an adult.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Syncope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Temporary loss of consciousness caused by decreased blood flow to the brain; fainting.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Cardiogenic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the heart's inability to pump blood effectively.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Hypovolemic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significant loss of blood or body fluids.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Septic Shock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a severe infection leading to widespread vasodilation and poor perfusion.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Obstructive Shock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Shock caused by a physical obstruction preventing adequate circulation (e.g., tension pneumothorax, cardiac tamponade).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Early stage of shock in which the body maintains blood pressure through compensatory mechanisms.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Decompensated Shock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Late stage of shock in which compensatory mechanisms fail and blood pressure drops.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dbf962bca_0_41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g3edbf962bca_0_41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8" name="Google Shape;158;g3edbf962bca_0_41"/>
          <p:cNvGraphicFramePr/>
          <p:nvPr/>
        </p:nvGraphicFramePr>
        <p:xfrm>
          <a:off x="4307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162225"/>
                <a:gridCol w="5945175"/>
              </a:tblGrid>
              <a:tr h="57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Diaphoresis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Nitroglycerin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Aspirin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Defibrillation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AED (Automated External Defibrillator)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Hemiplegia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197701899_0_151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f197701899_0_151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6" name="Google Shape;166;g3f197701899_0_151"/>
          <p:cNvGraphicFramePr/>
          <p:nvPr/>
        </p:nvGraphicFramePr>
        <p:xfrm>
          <a:off x="4307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162225"/>
                <a:gridCol w="5945175"/>
              </a:tblGrid>
              <a:tr h="57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Diaphoresis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Excessive sweating, often associated with shock or cardiac emergencies.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Nitroglycerin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Aspirin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Defibrillation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AED (Automated External Defibrillator)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Hemiplegia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97701899_0_144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g3f197701899_0_144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4" name="Google Shape;174;g3f197701899_0_144"/>
          <p:cNvGraphicFramePr/>
          <p:nvPr/>
        </p:nvGraphicFramePr>
        <p:xfrm>
          <a:off x="4307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162225"/>
                <a:gridCol w="5945175"/>
              </a:tblGrid>
              <a:tr h="57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Diaphoresis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Excessive sweating, often associated with shock or cardiac emergencies.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Nitroglycerin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Medication used to dilate blood vessels and relieve cardiac chest pain.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Aspirin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Defibrillation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AED (Automated External Defibrillator)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Hemiplegia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197701899_0_137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g3f197701899_0_137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82" name="Google Shape;182;g3f197701899_0_137"/>
          <p:cNvGraphicFramePr/>
          <p:nvPr/>
        </p:nvGraphicFramePr>
        <p:xfrm>
          <a:off x="4307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162225"/>
                <a:gridCol w="5945175"/>
              </a:tblGrid>
              <a:tr h="57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Diaphoresis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Excessive sweating, often associated with shock or cardiac emergencies.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Nitroglycerin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Medication used to dilate blood vessels and relieve cardiac chest pain.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Aspirin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Medication that helps prevent platelets from forming clots during a suspected heart attack.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Defibrillation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AED (Automated External Defibrillator)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Hemiplegia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197701899_0_130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g3f197701899_0_130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0" name="Google Shape;190;g3f197701899_0_130"/>
          <p:cNvGraphicFramePr/>
          <p:nvPr/>
        </p:nvGraphicFramePr>
        <p:xfrm>
          <a:off x="4307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162225"/>
                <a:gridCol w="5945175"/>
              </a:tblGrid>
              <a:tr h="57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Diaphoresis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Excessive sweating, often associated with shock or cardiac emergencies.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Nitroglycerin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Medication used to dilate blood vessels and relieve cardiac chest pain.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Aspirin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Medication that helps prevent platelets from forming clots during a suspected heart attack.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Defibrillation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Delivery of an electrical shock to stop certain life-threatening cardiac arrhythmias.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AED (Automated External Defibrillator)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Hemiplegia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197701899_0_123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g3f197701899_0_123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8" name="Google Shape;198;g3f197701899_0_123"/>
          <p:cNvGraphicFramePr/>
          <p:nvPr/>
        </p:nvGraphicFramePr>
        <p:xfrm>
          <a:off x="4307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162225"/>
                <a:gridCol w="5945175"/>
              </a:tblGrid>
              <a:tr h="57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Diaphoresis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Excessive sweating, often associated with shock or cardiac emergencies.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Nitroglycerin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Medication used to dilate blood vessels and relieve cardiac chest pain.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Aspirin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Medication that helps prevent platelets from forming clots during a suspected heart attack.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Defibrillation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Delivery of an electrical shock to stop certain life-threatening cardiac arrhythmias.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AED (Automated External Defibrillator)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Device that analyzes heart rhythm and delivers a shock if indicated.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Hemiplegia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97701899_0_116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g3f197701899_0_116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06" name="Google Shape;206;g3f197701899_0_116"/>
          <p:cNvGraphicFramePr/>
          <p:nvPr/>
        </p:nvGraphicFramePr>
        <p:xfrm>
          <a:off x="430725" y="109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{D76772A8-AD08-441B-8891-F59D88E8F87B}</a:tableStyleId>
              </a:tblPr>
              <a:tblGrid>
                <a:gridCol w="2162225"/>
                <a:gridCol w="5945175"/>
              </a:tblGrid>
              <a:tr h="57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Diaphoresis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Excessive sweating, often associated with shock or cardiac emergencies.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Nitroglycerin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Medication used to dilate blood vessels and relieve cardiac chest pain.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Aspirin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Medication that helps prevent platelets from forming clots during a suspected heart attack.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Defibrillation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Delivery of an electrical shock to stop certain life-threatening cardiac arrhythmias.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 AED (Automated External Defibrillator)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Device that analyzes heart rhythm and delivers a shock if indicated.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Hemiplegia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Paralysis on one side of the body.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c5e4a4fa1_0_28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g3ec5e4a4fa1_0_28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14" name="Google Shape;214;g3ec5e4a4fa1_0_28"/>
          <p:cNvGraphicFramePr/>
          <p:nvPr/>
        </p:nvGraphicFramePr>
        <p:xfrm>
          <a:off x="496150" y="120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{FEF557DD-5C5F-41BA-87C9-589532613CB1}</a:tableStyleId>
              </a:tblPr>
              <a:tblGrid>
                <a:gridCol w="1843325"/>
                <a:gridCol w="5395675"/>
              </a:tblGrid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eclampsia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placenta previa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7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abruptio placentae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ectopic pregnancy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bf962bca_0_188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g3edbf962bca_0_188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22" name="Google Shape;222;g3edbf962bca_0_188"/>
          <p:cNvGraphicFramePr/>
          <p:nvPr/>
        </p:nvGraphicFramePr>
        <p:xfrm>
          <a:off x="496150" y="120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{FEF557DD-5C5F-41BA-87C9-589532613CB1}</a:tableStyleId>
              </a:tblPr>
              <a:tblGrid>
                <a:gridCol w="1843325"/>
                <a:gridCol w="5395675"/>
              </a:tblGrid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eclampsia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 life-threatening condition in a pregnant woman characterized by seizures, usually occurring after preeclampsia.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placenta previa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7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abruptio placentae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ectopic pregnancy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dbf962bca_0_181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g3edbf962bca_0_181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30" name="Google Shape;230;g3edbf962bca_0_181"/>
          <p:cNvGraphicFramePr/>
          <p:nvPr/>
        </p:nvGraphicFramePr>
        <p:xfrm>
          <a:off x="496150" y="120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{FEF557DD-5C5F-41BA-87C9-589532613CB1}</a:tableStyleId>
              </a:tblPr>
              <a:tblGrid>
                <a:gridCol w="1843325"/>
                <a:gridCol w="5395675"/>
              </a:tblGrid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eclampsia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 life-threatening condition in a pregnant woman characterized by seizures, usually occurring after preeclampsia.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placenta previa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 condition in which the placenta implants over or near the cervix, often causing painless vaginal bleeding.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7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abruptio placentae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ectopic pregnancy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dbf962bca_0_174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g3edbf962bca_0_174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38" name="Google Shape;238;g3edbf962bca_0_174"/>
          <p:cNvGraphicFramePr/>
          <p:nvPr/>
        </p:nvGraphicFramePr>
        <p:xfrm>
          <a:off x="496150" y="120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{FEF557DD-5C5F-41BA-87C9-589532613CB1}</a:tableStyleId>
              </a:tblPr>
              <a:tblGrid>
                <a:gridCol w="1843325"/>
                <a:gridCol w="5395675"/>
              </a:tblGrid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eclampsia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 life-threatening condition in a pregnant woman characterized by seizures, usually occurring after preeclampsia.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placenta previa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 condition in which the placenta implants over or near the cervix, often causing painless vaginal bleeding.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7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abruptio placentae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Premature separation of the placenta from the uterine wall before delivery, typically causing painful vaginal bleeding and abdominal pain.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ectopic pregnancy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dbf962bca_0_167"/>
          <p:cNvSpPr txBox="1"/>
          <p:nvPr/>
        </p:nvSpPr>
        <p:spPr>
          <a:xfrm>
            <a:off x="855825" y="0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Vocabulary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g3edbf962bca_0_167"/>
          <p:cNvCxnSpPr/>
          <p:nvPr/>
        </p:nvCxnSpPr>
        <p:spPr>
          <a:xfrm>
            <a:off x="615350" y="586025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46" name="Google Shape;246;g3edbf962bca_0_167"/>
          <p:cNvGraphicFramePr/>
          <p:nvPr/>
        </p:nvGraphicFramePr>
        <p:xfrm>
          <a:off x="496150" y="120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{FEF557DD-5C5F-41BA-87C9-589532613CB1}</a:tableStyleId>
              </a:tblPr>
              <a:tblGrid>
                <a:gridCol w="1843325"/>
                <a:gridCol w="5395675"/>
              </a:tblGrid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eclampsia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 life-threatening condition in a pregnant woman characterized by seizures, usually occurring after preeclampsia.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9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placenta previa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 condition in which the placenta implants over or near the cervix, often causing painless vaginal bleeding.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7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abruptio placentae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Premature separation of the placenta from the uterine wall before delivery, typically causing painful vaginal bleeding and abdominal pain. 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ectopic pregnancy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</a:rPr>
                        <a:t>fertilized egg implants and begins to grow </a:t>
                      </a: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outside the uterus (womb)</a:t>
                      </a: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</a:rPr>
                        <a:t>, most commonly in one of the </a:t>
                      </a: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fallopian tubes</a:t>
                      </a: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</a:rPr>
                        <a:t>. </a:t>
                      </a:r>
                      <a:endParaRPr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d80420a4a_0_206"/>
          <p:cNvSpPr txBox="1"/>
          <p:nvPr/>
        </p:nvSpPr>
        <p:spPr>
          <a:xfrm>
            <a:off x="1762475" y="1179275"/>
            <a:ext cx="49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Numbers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g3ed80420a4a_0_206"/>
          <p:cNvCxnSpPr/>
          <p:nvPr/>
        </p:nvCxnSpPr>
        <p:spPr>
          <a:xfrm>
            <a:off x="1170400" y="1993350"/>
            <a:ext cx="63153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197701899_0_158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260" name="Google Shape;260;g3f197701899_0_158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61" name="Google Shape;261;g3f197701899_0_158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of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child head</a:t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197701899_0_167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268" name="Google Shape;268;g3f197701899_0_167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69" name="Google Shape;269;g3f197701899_0_167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child head</a:t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197701899_0_176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276" name="Google Shape;276;g3f197701899_0_176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77" name="Google Shape;277;g3f197701899_0_176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child head</a:t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197701899_0_185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284" name="Google Shape;284;g3f197701899_0_185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85" name="Google Shape;285;g3f197701899_0_185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197701899_0_194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292" name="Google Shape;292;g3f197701899_0_194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93" name="Google Shape;293;g3f197701899_0_194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197701899_0_203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300" name="Google Shape;300;g3f197701899_0_203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01" name="Google Shape;301;g3f197701899_0_203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100 - 120 compressions/minute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197701899_0_212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308" name="Google Shape;308;g3f197701899_0_212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09" name="Google Shape;309;g3f197701899_0_212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100 - 120 compressions/minute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60-100 bpm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197701899_0_221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316" name="Google Shape;316;g3f197701899_0_221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17" name="Google Shape;317;g3f197701899_0_221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100 - 120 compressions/minute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60-100 bpm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10-15 LPM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197701899_0_230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324" name="Google Shape;324;g3f197701899_0_230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25" name="Google Shape;325;g3f197701899_0_230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100 - 120 compressions/minute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60-100 bpm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10-15 LPM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 seconds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197701899_0_239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332" name="Google Shape;332;g3f197701899_0_239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33" name="Google Shape;333;g3f197701899_0_239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100 - 120 compressions/minute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60-100 bpm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10-15 LPM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 seconds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70 - 140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197701899_0_248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340" name="Google Shape;340;g3f197701899_0_248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41" name="Google Shape;341;g3f197701899_0_248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100 - 120 compressions/minute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60-100 bpm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10-15 LPM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 seconds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70 - 140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 minute and 5 minutes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197701899_0_257"/>
          <p:cNvSpPr txBox="1"/>
          <p:nvPr/>
        </p:nvSpPr>
        <p:spPr>
          <a:xfrm>
            <a:off x="360025" y="267450"/>
            <a:ext cx="37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Numbers Bank</a:t>
            </a:r>
            <a:endParaRPr/>
          </a:p>
        </p:txBody>
      </p:sp>
      <p:cxnSp>
        <p:nvCxnSpPr>
          <p:cNvPr id="348" name="Google Shape;348;g3f197701899_0_257"/>
          <p:cNvCxnSpPr/>
          <p:nvPr/>
        </p:nvCxnSpPr>
        <p:spPr>
          <a:xfrm>
            <a:off x="254650" y="854425"/>
            <a:ext cx="3374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49" name="Google Shape;349;g3f197701899_0_257"/>
          <p:cNvGraphicFramePr/>
          <p:nvPr/>
        </p:nvGraphicFramePr>
        <p:xfrm>
          <a:off x="556287" y="106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4344300"/>
                <a:gridCol w="2811025"/>
              </a:tblGrid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Percentage for adult head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Percentage for one adult leg </a:t>
                      </a:r>
                      <a:endParaRPr sz="600"/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depth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2 - 2.5  inches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Respirations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12 - 20 breaths per 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Adult CPR Rate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100 - 120 compressions/minute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Adult Heart 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60-100 bpm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NRB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10-15 LPM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BVM 1 breath every ____ seconds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6 seconds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Normal glucose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70 - 140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APGAR scores at what times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 minute and 5 minutes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nasal cannula LPM</a:t>
                      </a:r>
                      <a:endParaRPr sz="6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1-6 LPM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d80420a4a_0_382"/>
          <p:cNvSpPr txBox="1"/>
          <p:nvPr/>
        </p:nvSpPr>
        <p:spPr>
          <a:xfrm>
            <a:off x="0" y="9945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Airway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g3ed80420a4a_0_382"/>
          <p:cNvCxnSpPr/>
          <p:nvPr/>
        </p:nvCxnSpPr>
        <p:spPr>
          <a:xfrm>
            <a:off x="236475" y="857250"/>
            <a:ext cx="8691000" cy="147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7" name="Google Shape;357;g3ed80420a4a_0_3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2525" y="1053450"/>
            <a:ext cx="4598950" cy="39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197701899_0_460"/>
          <p:cNvSpPr txBox="1"/>
          <p:nvPr/>
        </p:nvSpPr>
        <p:spPr>
          <a:xfrm>
            <a:off x="0" y="9945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Ventilation vs. Oxygenation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" name="Google Shape;364;g3f197701899_0_460"/>
          <p:cNvCxnSpPr/>
          <p:nvPr/>
        </p:nvCxnSpPr>
        <p:spPr>
          <a:xfrm>
            <a:off x="236475" y="857250"/>
            <a:ext cx="8691000" cy="147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5" name="Google Shape;365;g3f197701899_0_4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4875" y="1032650"/>
            <a:ext cx="4995700" cy="39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d80420a4a_0_253"/>
          <p:cNvSpPr txBox="1"/>
          <p:nvPr/>
        </p:nvSpPr>
        <p:spPr>
          <a:xfrm>
            <a:off x="1415625" y="294925"/>
            <a:ext cx="663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Normal Respiratory Numbers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g3ed80420a4a_0_253"/>
          <p:cNvCxnSpPr/>
          <p:nvPr/>
        </p:nvCxnSpPr>
        <p:spPr>
          <a:xfrm>
            <a:off x="1315425" y="960700"/>
            <a:ext cx="6858000" cy="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3" name="Google Shape;373;g3ed80420a4a_0_2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625" y="1141875"/>
            <a:ext cx="6858000" cy="377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dbf962bca_0_358"/>
          <p:cNvSpPr txBox="1"/>
          <p:nvPr/>
        </p:nvSpPr>
        <p:spPr>
          <a:xfrm>
            <a:off x="135075" y="3916500"/>
            <a:ext cx="67176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💡 </a:t>
            </a:r>
            <a:r>
              <a:rPr lang="en-US" sz="1800" u="sng">
                <a:solidFill>
                  <a:schemeClr val="lt2"/>
                </a:solidFill>
              </a:rPr>
              <a:t>A way to remember it:</a:t>
            </a:r>
            <a:endParaRPr sz="1800" u="sng">
              <a:solidFill>
                <a:schemeClr val="lt2"/>
              </a:solidFill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Distress </a:t>
            </a:r>
            <a:r>
              <a:rPr lang="en-US" sz="1500">
                <a:solidFill>
                  <a:schemeClr val="lt1"/>
                </a:solidFill>
              </a:rPr>
              <a:t>is the work</a:t>
            </a:r>
            <a:endParaRPr sz="1500">
              <a:solidFill>
                <a:schemeClr val="lt1"/>
              </a:solidFill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Failure is the consequence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380" name="Google Shape;380;g3edbf962bca_0_3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3213" y="207075"/>
            <a:ext cx="6497565" cy="37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dbf962bca_0_261"/>
          <p:cNvSpPr txBox="1"/>
          <p:nvPr/>
        </p:nvSpPr>
        <p:spPr>
          <a:xfrm>
            <a:off x="872975" y="70775"/>
            <a:ext cx="7197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</a:t>
            </a:r>
            <a:endParaRPr b="1" sz="3600">
              <a:solidFill>
                <a:srgbClr val="9FC5E8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Distress vs Failure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g3edbf962bca_0_261"/>
          <p:cNvCxnSpPr/>
          <p:nvPr/>
        </p:nvCxnSpPr>
        <p:spPr>
          <a:xfrm>
            <a:off x="854850" y="1311050"/>
            <a:ext cx="7434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8" name="Google Shape;388;g3edbf962bca_0_2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550" y="1528575"/>
            <a:ext cx="553402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edbf962bca_0_261"/>
          <p:cNvSpPr txBox="1"/>
          <p:nvPr/>
        </p:nvSpPr>
        <p:spPr>
          <a:xfrm>
            <a:off x="221850" y="2342475"/>
            <a:ext cx="866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Watch for these turning points: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Speech drops off: Words become single-word answers or stop altogether.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Attention drifts: The patient is less engaged, less responsive, or oddly calm.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Chest movement changes: Less movement after prolonged effort may mean fatigue, not recovery.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Color worsens: Cyanosis or ashen appearance raises the stakes immediately.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dbf962bca_0_366"/>
          <p:cNvSpPr txBox="1"/>
          <p:nvPr/>
        </p:nvSpPr>
        <p:spPr>
          <a:xfrm>
            <a:off x="872975" y="70775"/>
            <a:ext cx="663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Hypoxia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g3edbf962bca_0_366"/>
          <p:cNvCxnSpPr/>
          <p:nvPr/>
        </p:nvCxnSpPr>
        <p:spPr>
          <a:xfrm>
            <a:off x="2143125" y="886800"/>
            <a:ext cx="3990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7" name="Google Shape;397;g3edbf962bca_0_3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3925" y="963925"/>
            <a:ext cx="3229375" cy="39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db9a03c94_0_9"/>
          <p:cNvSpPr txBox="1"/>
          <p:nvPr/>
        </p:nvSpPr>
        <p:spPr>
          <a:xfrm>
            <a:off x="566250" y="176950"/>
            <a:ext cx="747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Breath Sounds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g3edb9a03c94_0_9"/>
          <p:cNvCxnSpPr/>
          <p:nvPr/>
        </p:nvCxnSpPr>
        <p:spPr>
          <a:xfrm flipH="1" rot="10800000">
            <a:off x="960700" y="857325"/>
            <a:ext cx="6754500" cy="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5" name="Google Shape;405;g3edb9a03c94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0700" y="1216625"/>
            <a:ext cx="3534500" cy="27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177910993_0_4"/>
          <p:cNvSpPr txBox="1"/>
          <p:nvPr/>
        </p:nvSpPr>
        <p:spPr>
          <a:xfrm>
            <a:off x="566250" y="176950"/>
            <a:ext cx="747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Breath Sounds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g3f177910993_0_4"/>
          <p:cNvCxnSpPr/>
          <p:nvPr/>
        </p:nvCxnSpPr>
        <p:spPr>
          <a:xfrm flipH="1" rot="10800000">
            <a:off x="960700" y="857325"/>
            <a:ext cx="6754500" cy="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3" name="Google Shape;413;g3f177910993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50" y="1030475"/>
            <a:ext cx="7706900" cy="36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177910993_0_12"/>
          <p:cNvSpPr txBox="1"/>
          <p:nvPr/>
        </p:nvSpPr>
        <p:spPr>
          <a:xfrm>
            <a:off x="566250" y="176950"/>
            <a:ext cx="747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Breath Sounds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g3f177910993_0_12"/>
          <p:cNvCxnSpPr/>
          <p:nvPr/>
        </p:nvCxnSpPr>
        <p:spPr>
          <a:xfrm flipH="1" rot="10800000">
            <a:off x="960700" y="857325"/>
            <a:ext cx="6754500" cy="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c613c894b_0_14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accent2"/>
                </a:solidFill>
              </a:rPr>
              <a:t>Hyper</a:t>
            </a:r>
            <a:r>
              <a:rPr b="1" lang="en-US" sz="3600">
                <a:solidFill>
                  <a:srgbClr val="9FC5E8"/>
                </a:solidFill>
              </a:rPr>
              <a:t>ventilation vs. </a:t>
            </a:r>
            <a:r>
              <a:rPr b="1" lang="en-US" sz="3600">
                <a:solidFill>
                  <a:schemeClr val="accent2"/>
                </a:solidFill>
              </a:rPr>
              <a:t>Hypo</a:t>
            </a:r>
            <a:r>
              <a:rPr b="1" lang="en-US" sz="3600">
                <a:solidFill>
                  <a:srgbClr val="9FC5E8"/>
                </a:solidFill>
              </a:rPr>
              <a:t>ventilation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g3ec613c894b_0_14"/>
          <p:cNvCxnSpPr/>
          <p:nvPr/>
        </p:nvCxnSpPr>
        <p:spPr>
          <a:xfrm>
            <a:off x="325175" y="724225"/>
            <a:ext cx="8661300" cy="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dbf962bca_0_309"/>
          <p:cNvSpPr txBox="1"/>
          <p:nvPr/>
        </p:nvSpPr>
        <p:spPr>
          <a:xfrm>
            <a:off x="0" y="58975"/>
            <a:ext cx="903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lang="en-US" sz="3600">
                <a:solidFill>
                  <a:srgbClr val="9FC5E8"/>
                </a:solidFill>
              </a:rPr>
              <a:t>irway Adjunct</a:t>
            </a:r>
            <a:endParaRPr b="1" i="0" sz="30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g3edbf962bca_0_309"/>
          <p:cNvCxnSpPr/>
          <p:nvPr/>
        </p:nvCxnSpPr>
        <p:spPr>
          <a:xfrm>
            <a:off x="1581475" y="739000"/>
            <a:ext cx="5867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dbf962bca_0_251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FC5E8"/>
                </a:solidFill>
              </a:rPr>
              <a:t>Oxygen Delivery Devices</a:t>
            </a:r>
            <a:endParaRPr b="1" sz="3000">
              <a:solidFill>
                <a:srgbClr val="9FC5E8"/>
              </a:solidFill>
            </a:endParaRPr>
          </a:p>
        </p:txBody>
      </p:sp>
      <p:cxnSp>
        <p:nvCxnSpPr>
          <p:cNvPr id="441" name="Google Shape;441;g3edbf962bca_0_251"/>
          <p:cNvCxnSpPr/>
          <p:nvPr/>
        </p:nvCxnSpPr>
        <p:spPr>
          <a:xfrm>
            <a:off x="1345000" y="665100"/>
            <a:ext cx="6473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dbf962bca_0_243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Scenario #1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g3edbf962bca_0_243"/>
          <p:cNvCxnSpPr/>
          <p:nvPr/>
        </p:nvCxnSpPr>
        <p:spPr>
          <a:xfrm>
            <a:off x="268525" y="708550"/>
            <a:ext cx="8718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g3edbf962bca_0_243"/>
          <p:cNvSpPr txBox="1"/>
          <p:nvPr/>
        </p:nvSpPr>
        <p:spPr>
          <a:xfrm>
            <a:off x="2073825" y="935750"/>
            <a:ext cx="58041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 24-year-old presents with: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Wheezing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Accessory muscle use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Speaking in short sentences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Questions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Distress or failure?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Likely condition?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Treatment priorities?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197701899_0_285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Scenario #1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g3f197701899_0_285"/>
          <p:cNvCxnSpPr/>
          <p:nvPr/>
        </p:nvCxnSpPr>
        <p:spPr>
          <a:xfrm>
            <a:off x="268525" y="708550"/>
            <a:ext cx="8718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g3f197701899_0_285"/>
          <p:cNvSpPr txBox="1"/>
          <p:nvPr/>
        </p:nvSpPr>
        <p:spPr>
          <a:xfrm>
            <a:off x="2073825" y="935750"/>
            <a:ext cx="5804100" cy="3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 24-year-old presents with: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Wheezing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Accessory muscle use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Speaking in short sentences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Questions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Distress or failure?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Likely condition?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Treatment priorities?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Answer:</a:t>
            </a:r>
            <a:br>
              <a:rPr b="1" lang="en-US" sz="1800">
                <a:solidFill>
                  <a:schemeClr val="lt1"/>
                </a:solidFill>
              </a:rPr>
            </a:br>
            <a:r>
              <a:rPr lang="en-US" sz="1800">
                <a:solidFill>
                  <a:schemeClr val="lt1"/>
                </a:solidFill>
              </a:rPr>
              <a:t>Respiratory distress, likely asthma.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dbf962bca_0_239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Scenario #2</a:t>
            </a:r>
            <a:endParaRPr b="1" sz="3600">
              <a:solidFill>
                <a:srgbClr val="9FC5E8"/>
              </a:solidFill>
            </a:endParaRPr>
          </a:p>
        </p:txBody>
      </p:sp>
      <p:cxnSp>
        <p:nvCxnSpPr>
          <p:cNvPr id="464" name="Google Shape;464;g3edbf962bca_0_239"/>
          <p:cNvCxnSpPr/>
          <p:nvPr/>
        </p:nvCxnSpPr>
        <p:spPr>
          <a:xfrm>
            <a:off x="268525" y="708550"/>
            <a:ext cx="8718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g3edbf962bca_0_239"/>
          <p:cNvSpPr txBox="1"/>
          <p:nvPr/>
        </p:nvSpPr>
        <p:spPr>
          <a:xfrm>
            <a:off x="1659975" y="861850"/>
            <a:ext cx="57153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 72-year-old presents with: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Crackles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Pink frothy sputum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Dyspnea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Questions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Likely condition?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What breath sound is expected?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197701899_0_294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Scenario #2</a:t>
            </a:r>
            <a:endParaRPr b="1" sz="3600">
              <a:solidFill>
                <a:srgbClr val="9FC5E8"/>
              </a:solidFill>
            </a:endParaRPr>
          </a:p>
        </p:txBody>
      </p:sp>
      <p:cxnSp>
        <p:nvCxnSpPr>
          <p:cNvPr id="472" name="Google Shape;472;g3f197701899_0_294"/>
          <p:cNvCxnSpPr/>
          <p:nvPr/>
        </p:nvCxnSpPr>
        <p:spPr>
          <a:xfrm>
            <a:off x="268525" y="708550"/>
            <a:ext cx="8718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g3f197701899_0_294"/>
          <p:cNvSpPr txBox="1"/>
          <p:nvPr/>
        </p:nvSpPr>
        <p:spPr>
          <a:xfrm>
            <a:off x="1659975" y="861850"/>
            <a:ext cx="57153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 72-year-old presents with: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Crackles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Pink frothy sputum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Dyspnea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Questions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Likely condition?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What breath sound is expected?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Answer:</a:t>
            </a:r>
            <a:br>
              <a:rPr b="1" lang="en-US" sz="1800">
                <a:solidFill>
                  <a:schemeClr val="lt1"/>
                </a:solidFill>
              </a:rPr>
            </a:br>
            <a:r>
              <a:rPr lang="en-US" sz="1800">
                <a:solidFill>
                  <a:schemeClr val="lt1"/>
                </a:solidFill>
              </a:rPr>
              <a:t>Pulmonary edema, crackles.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dbf962bca_0_235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Scenario #3</a:t>
            </a:r>
            <a:endParaRPr b="1" sz="3600">
              <a:solidFill>
                <a:srgbClr val="9FC5E8"/>
              </a:solidFill>
            </a:endParaRPr>
          </a:p>
        </p:txBody>
      </p:sp>
      <p:cxnSp>
        <p:nvCxnSpPr>
          <p:cNvPr id="480" name="Google Shape;480;g3edbf962bca_0_235"/>
          <p:cNvCxnSpPr/>
          <p:nvPr/>
        </p:nvCxnSpPr>
        <p:spPr>
          <a:xfrm>
            <a:off x="268525" y="708550"/>
            <a:ext cx="8718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g3edbf962bca_0_235"/>
          <p:cNvSpPr txBox="1"/>
          <p:nvPr/>
        </p:nvSpPr>
        <p:spPr>
          <a:xfrm>
            <a:off x="2072875" y="904950"/>
            <a:ext cx="51093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 child presents with: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Barking cough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Stridor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Questions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Upper or lower airway problem?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Likely condition?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197701899_0_303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Scenario #3</a:t>
            </a:r>
            <a:endParaRPr b="1" sz="3600">
              <a:solidFill>
                <a:srgbClr val="9FC5E8"/>
              </a:solidFill>
            </a:endParaRPr>
          </a:p>
        </p:txBody>
      </p:sp>
      <p:cxnSp>
        <p:nvCxnSpPr>
          <p:cNvPr id="488" name="Google Shape;488;g3f197701899_0_303"/>
          <p:cNvCxnSpPr/>
          <p:nvPr/>
        </p:nvCxnSpPr>
        <p:spPr>
          <a:xfrm>
            <a:off x="268525" y="708550"/>
            <a:ext cx="8718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g3f197701899_0_303"/>
          <p:cNvSpPr txBox="1"/>
          <p:nvPr/>
        </p:nvSpPr>
        <p:spPr>
          <a:xfrm>
            <a:off x="2072875" y="904950"/>
            <a:ext cx="51093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 child presents with: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Barking cough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Stridor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Questions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Upper or lower airway problem?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Likely condition?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Answer:</a:t>
            </a:r>
            <a:br>
              <a:rPr b="1" lang="en-US" sz="1800">
                <a:solidFill>
                  <a:schemeClr val="lt1"/>
                </a:solidFill>
              </a:rPr>
            </a:br>
            <a:r>
              <a:rPr lang="en-US" sz="1800">
                <a:solidFill>
                  <a:schemeClr val="lt1"/>
                </a:solidFill>
              </a:rPr>
              <a:t>Upper airway; croup.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197701899_0_312"/>
          <p:cNvSpPr txBox="1"/>
          <p:nvPr/>
        </p:nvSpPr>
        <p:spPr>
          <a:xfrm>
            <a:off x="0" y="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Commonly Confused Terms</a:t>
            </a:r>
            <a:endParaRPr b="1" sz="3600">
              <a:solidFill>
                <a:srgbClr val="9FC5E8"/>
              </a:solidFill>
            </a:endParaRPr>
          </a:p>
        </p:txBody>
      </p:sp>
      <p:cxnSp>
        <p:nvCxnSpPr>
          <p:cNvPr id="496" name="Google Shape;496;g3f197701899_0_312"/>
          <p:cNvCxnSpPr/>
          <p:nvPr/>
        </p:nvCxnSpPr>
        <p:spPr>
          <a:xfrm>
            <a:off x="268525" y="708550"/>
            <a:ext cx="8718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7" name="Google Shape;497;g3f197701899_0_3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400" y="951063"/>
            <a:ext cx="4311200" cy="32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dbf962bca_0_1"/>
          <p:cNvSpPr txBox="1"/>
          <p:nvPr/>
        </p:nvSpPr>
        <p:spPr>
          <a:xfrm>
            <a:off x="141575" y="247725"/>
            <a:ext cx="300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9FC5E8"/>
                </a:solidFill>
              </a:rPr>
              <a:t>Respiratory Memory</a:t>
            </a: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 Pearls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edbf962bca_0_1"/>
          <p:cNvSpPr txBox="1"/>
          <p:nvPr/>
        </p:nvSpPr>
        <p:spPr>
          <a:xfrm>
            <a:off x="3562025" y="384275"/>
            <a:ext cx="53652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Wheezing = Lower airway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Stridor = Upper airway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Crackles = Fluid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Rhonchi = Secretions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Distress = Compensating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Failure = Decompensating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OPA = No gag reflex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NPA = Gag reflex present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COPD patients often wheeze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Pulmonary edema causes crackles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dbf962bca_0_336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edbf962bca_0_336"/>
          <p:cNvSpPr txBox="1"/>
          <p:nvPr/>
        </p:nvSpPr>
        <p:spPr>
          <a:xfrm>
            <a:off x="1073525" y="612025"/>
            <a:ext cx="68631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Define hypoxia.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197701899_0_333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f197701899_0_333"/>
          <p:cNvSpPr txBox="1"/>
          <p:nvPr/>
        </p:nvSpPr>
        <p:spPr>
          <a:xfrm>
            <a:off x="1073525" y="612025"/>
            <a:ext cx="6863100" cy="3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Define hypoxia.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Hypoxia</a:t>
            </a:r>
            <a:r>
              <a:rPr lang="en-US" sz="1600">
                <a:solidFill>
                  <a:schemeClr val="lt1"/>
                </a:solidFill>
              </a:rPr>
              <a:t> is inadequate oxygen delivery to the body's tissues.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Common signs: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Restlessness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Anxiety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Tachycardia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Altered mental status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Cyanosis (late)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197701899_0_321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197701899_0_321"/>
          <p:cNvSpPr txBox="1"/>
          <p:nvPr/>
        </p:nvSpPr>
        <p:spPr>
          <a:xfrm>
            <a:off x="1073525" y="612025"/>
            <a:ext cx="7759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Define cyanosis.</a:t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197701899_0_395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197701899_0_395"/>
          <p:cNvSpPr txBox="1"/>
          <p:nvPr/>
        </p:nvSpPr>
        <p:spPr>
          <a:xfrm>
            <a:off x="1073525" y="612025"/>
            <a:ext cx="7759800" cy="23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Define cyanosis.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Cyanosis</a:t>
            </a:r>
            <a:r>
              <a:rPr lang="en-US" sz="1700">
                <a:solidFill>
                  <a:schemeClr val="lt1"/>
                </a:solidFill>
              </a:rPr>
              <a:t> is a bluish discoloration of the skin, lips, or nail beds caused by inadequate oxygenation.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NREMT Pearl:</a:t>
            </a:r>
            <a:r>
              <a:rPr lang="en-US" sz="1700">
                <a:solidFill>
                  <a:schemeClr val="lt1"/>
                </a:solidFill>
              </a:rPr>
              <a:t> Cyanosis is a </a:t>
            </a:r>
            <a:r>
              <a:rPr b="1" lang="en-US" sz="1700">
                <a:solidFill>
                  <a:schemeClr val="lt1"/>
                </a:solidFill>
              </a:rPr>
              <a:t>late sign</a:t>
            </a:r>
            <a:r>
              <a:rPr lang="en-US" sz="1700">
                <a:solidFill>
                  <a:schemeClr val="lt1"/>
                </a:solidFill>
              </a:rPr>
              <a:t> of hypoxia.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197701899_0_327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197701899_0_327"/>
          <p:cNvSpPr txBox="1"/>
          <p:nvPr/>
        </p:nvSpPr>
        <p:spPr>
          <a:xfrm>
            <a:off x="1073525" y="612025"/>
            <a:ext cx="686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What is stridor?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197701899_0_401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197701899_0_401"/>
          <p:cNvSpPr txBox="1"/>
          <p:nvPr/>
        </p:nvSpPr>
        <p:spPr>
          <a:xfrm>
            <a:off x="1073525" y="612025"/>
            <a:ext cx="77598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What is stridor?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Stridor</a:t>
            </a:r>
            <a:r>
              <a:rPr lang="en-US" sz="1600">
                <a:solidFill>
                  <a:schemeClr val="lt1"/>
                </a:solidFill>
              </a:rPr>
              <a:t> is a harsh, high-pitched sound caused by </a:t>
            </a:r>
            <a:r>
              <a:rPr b="1" lang="en-US" sz="1600">
                <a:solidFill>
                  <a:srgbClr val="FF0000"/>
                </a:solidFill>
              </a:rPr>
              <a:t>upper airway</a:t>
            </a:r>
            <a:r>
              <a:rPr b="1" lang="en-US" sz="1600">
                <a:solidFill>
                  <a:schemeClr val="lt1"/>
                </a:solidFill>
              </a:rPr>
              <a:t> obstruction</a:t>
            </a:r>
            <a:r>
              <a:rPr lang="en-US" sz="1600">
                <a:solidFill>
                  <a:schemeClr val="lt1"/>
                </a:solidFill>
              </a:rPr>
              <a:t>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Common causes: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Croup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Epiglottitis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Airway swelling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Foreign body obstruction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197701899_0_388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f197701899_0_388"/>
          <p:cNvSpPr txBox="1"/>
          <p:nvPr/>
        </p:nvSpPr>
        <p:spPr>
          <a:xfrm>
            <a:off x="1073525" y="612025"/>
            <a:ext cx="686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What is wheezing?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197701899_0_408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f197701899_0_408"/>
          <p:cNvSpPr txBox="1"/>
          <p:nvPr/>
        </p:nvSpPr>
        <p:spPr>
          <a:xfrm>
            <a:off x="1073525" y="612025"/>
            <a:ext cx="71886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What is wheezing?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Wheezing</a:t>
            </a:r>
            <a:r>
              <a:rPr lang="en-US" sz="1600">
                <a:solidFill>
                  <a:schemeClr val="lt1"/>
                </a:solidFill>
              </a:rPr>
              <a:t> is a high-pitched whistling sound caused by narrowing of the </a:t>
            </a:r>
            <a:r>
              <a:rPr b="1" lang="en-US" sz="1600">
                <a:solidFill>
                  <a:srgbClr val="FF0000"/>
                </a:solidFill>
              </a:rPr>
              <a:t>lower airways</a:t>
            </a:r>
            <a:r>
              <a:rPr lang="en-US" sz="1600">
                <a:solidFill>
                  <a:srgbClr val="FF0000"/>
                </a:solidFill>
              </a:rPr>
              <a:t>.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Common causes: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Asthma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COPD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Bronchospasm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197701899_0_382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f197701899_0_382"/>
          <p:cNvSpPr txBox="1"/>
          <p:nvPr/>
        </p:nvSpPr>
        <p:spPr>
          <a:xfrm>
            <a:off x="1058750" y="1040650"/>
            <a:ext cx="686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What is pulmonary edema?</a:t>
            </a:r>
            <a:endParaRPr sz="2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197701899_0_415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197701899_0_415"/>
          <p:cNvSpPr txBox="1"/>
          <p:nvPr/>
        </p:nvSpPr>
        <p:spPr>
          <a:xfrm>
            <a:off x="1058750" y="1040650"/>
            <a:ext cx="68631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What is pulmonary edema?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F0000"/>
                </a:solidFill>
              </a:rPr>
              <a:t>Pulmonary edema</a:t>
            </a:r>
            <a:r>
              <a:rPr lang="en-US" sz="1600">
                <a:solidFill>
                  <a:schemeClr val="lt1"/>
                </a:solidFill>
              </a:rPr>
              <a:t> is the accumulation of fluid in the lungs.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Signs: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Shortness of breath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Crackles (rales)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Pink frothy sputum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Common cause:</a:t>
            </a:r>
            <a:r>
              <a:rPr lang="en-US" sz="1600">
                <a:solidFill>
                  <a:schemeClr val="lt1"/>
                </a:solidFill>
              </a:rPr>
              <a:t> Congestive heart failure (CHF)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197701899_0_376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f197701899_0_376"/>
          <p:cNvSpPr txBox="1"/>
          <p:nvPr/>
        </p:nvSpPr>
        <p:spPr>
          <a:xfrm>
            <a:off x="1073525" y="612025"/>
            <a:ext cx="68631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What is COPD?</a:t>
            </a:r>
            <a:endParaRPr sz="17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197701899_0_423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197701899_0_423"/>
          <p:cNvSpPr txBox="1"/>
          <p:nvPr/>
        </p:nvSpPr>
        <p:spPr>
          <a:xfrm>
            <a:off x="1073525" y="612025"/>
            <a:ext cx="6863100" cy="4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What is COPD?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0000"/>
                </a:solidFill>
              </a:rPr>
              <a:t>COPD (Chronic Obstructive Pulmonary Disease)</a:t>
            </a:r>
            <a:r>
              <a:rPr lang="en-US" sz="1500">
                <a:solidFill>
                  <a:schemeClr val="lt1"/>
                </a:solidFill>
              </a:rPr>
              <a:t> is a chronic lung disease that causes airflow obstruction.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Includes: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Chronic bronchitis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Emphysema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Common findings: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Wheezing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Chronic cough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Barrel chest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197701899_0_370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197701899_0_370"/>
          <p:cNvSpPr txBox="1"/>
          <p:nvPr/>
        </p:nvSpPr>
        <p:spPr>
          <a:xfrm>
            <a:off x="1073525" y="612025"/>
            <a:ext cx="68631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OPA or NPA for a patient with a gag reflex?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197701899_0_429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f197701899_0_429"/>
          <p:cNvSpPr txBox="1"/>
          <p:nvPr/>
        </p:nvSpPr>
        <p:spPr>
          <a:xfrm>
            <a:off x="1073525" y="612025"/>
            <a:ext cx="68631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OPA or NPA for a patient with a gag reflex?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✅</a:t>
            </a:r>
            <a:r>
              <a:rPr lang="en-US" sz="1500">
                <a:solidFill>
                  <a:srgbClr val="FF0000"/>
                </a:solidFill>
              </a:rPr>
              <a:t> </a:t>
            </a:r>
            <a:r>
              <a:rPr b="1" lang="en-US" sz="1500">
                <a:solidFill>
                  <a:srgbClr val="FF0000"/>
                </a:solidFill>
              </a:rPr>
              <a:t>NPA (Nasopharyngeal Airway)</a:t>
            </a:r>
            <a:endParaRPr b="1" sz="1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</a:rPr>
              <a:t>Reason:</a:t>
            </a:r>
            <a:r>
              <a:rPr lang="en-US" sz="1500">
                <a:solidFill>
                  <a:schemeClr val="lt1"/>
                </a:solidFill>
              </a:rPr>
              <a:t> NPAs can be used in patients with an intact gag reflex.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❌ </a:t>
            </a:r>
            <a:r>
              <a:rPr b="1" lang="en-US" sz="1500">
                <a:solidFill>
                  <a:srgbClr val="FF0000"/>
                </a:solidFill>
              </a:rPr>
              <a:t>OPA (Oropharyngeal Airway)</a:t>
            </a:r>
            <a:r>
              <a:rPr lang="en-US" sz="1500">
                <a:solidFill>
                  <a:srgbClr val="FF0000"/>
                </a:solidFill>
              </a:rPr>
              <a:t> </a:t>
            </a:r>
            <a:r>
              <a:rPr lang="en-US" sz="1500">
                <a:solidFill>
                  <a:schemeClr val="lt1"/>
                </a:solidFill>
              </a:rPr>
              <a:t>is used only in unresponsive patients </a:t>
            </a:r>
            <a:r>
              <a:rPr b="1" lang="en-US" sz="1500">
                <a:solidFill>
                  <a:schemeClr val="lt1"/>
                </a:solidFill>
              </a:rPr>
              <a:t>without</a:t>
            </a:r>
            <a:r>
              <a:rPr lang="en-US" sz="1500">
                <a:solidFill>
                  <a:schemeClr val="lt1"/>
                </a:solidFill>
              </a:rPr>
              <a:t> a gag reflex.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197701899_0_435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197701899_0_435"/>
          <p:cNvSpPr txBox="1"/>
          <p:nvPr/>
        </p:nvSpPr>
        <p:spPr>
          <a:xfrm>
            <a:off x="1140450" y="1011075"/>
            <a:ext cx="68631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Flow rate for a nonrebreather?</a:t>
            </a:r>
            <a:endParaRPr sz="21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197701899_0_364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197701899_0_364"/>
          <p:cNvSpPr txBox="1"/>
          <p:nvPr/>
        </p:nvSpPr>
        <p:spPr>
          <a:xfrm>
            <a:off x="985050" y="892850"/>
            <a:ext cx="68631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Flow rate for a nonrebreather?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</a:rPr>
              <a:t>✅ </a:t>
            </a:r>
            <a:r>
              <a:rPr b="1" lang="en-US" sz="1600">
                <a:solidFill>
                  <a:schemeClr val="lt1"/>
                </a:solidFill>
              </a:rPr>
              <a:t>10–15 LPM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NREMT Pearl:</a:t>
            </a:r>
            <a:r>
              <a:rPr lang="en-US" sz="1600">
                <a:solidFill>
                  <a:schemeClr val="lt1"/>
                </a:solidFill>
              </a:rPr>
              <a:t> Most EMT textbooks teach </a:t>
            </a:r>
            <a:r>
              <a:rPr b="1" lang="en-US" sz="1600">
                <a:solidFill>
                  <a:schemeClr val="lt1"/>
                </a:solidFill>
              </a:rPr>
              <a:t>15 LPM</a:t>
            </a:r>
            <a:r>
              <a:rPr lang="en-US" sz="1600">
                <a:solidFill>
                  <a:schemeClr val="lt1"/>
                </a:solidFill>
              </a:rPr>
              <a:t> to keep the reservoir bag inflated.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197701899_0_358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197701899_0_358"/>
          <p:cNvSpPr txBox="1"/>
          <p:nvPr/>
        </p:nvSpPr>
        <p:spPr>
          <a:xfrm>
            <a:off x="1354350" y="1084975"/>
            <a:ext cx="686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Signs of respiratory failure?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197701899_0_441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f197701899_0_441"/>
          <p:cNvSpPr txBox="1"/>
          <p:nvPr/>
        </p:nvSpPr>
        <p:spPr>
          <a:xfrm>
            <a:off x="1140450" y="1188450"/>
            <a:ext cx="6863100" cy="4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Signs of respiratory failure?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</a:rPr>
              <a:t>Late signs: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Altered mental status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Cyanosis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Exhaustion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Decreased respiratory effort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Slow or irregular respirations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Inability to speak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Poor air movement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</a:rPr>
              <a:t>NREMT Pearl:</a:t>
            </a:r>
            <a:r>
              <a:rPr lang="en-US" sz="1500">
                <a:solidFill>
                  <a:schemeClr val="lt1"/>
                </a:solidFill>
              </a:rPr>
              <a:t> Respiratory failure = the patient is no longer compensating.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197701899_0_352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197701899_0_352"/>
          <p:cNvSpPr txBox="1"/>
          <p:nvPr/>
        </p:nvSpPr>
        <p:spPr>
          <a:xfrm>
            <a:off x="763350" y="1055425"/>
            <a:ext cx="6863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Difference between ventilation and oxygenation?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197701899_0_447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197701899_0_447"/>
          <p:cNvSpPr txBox="1"/>
          <p:nvPr/>
        </p:nvSpPr>
        <p:spPr>
          <a:xfrm>
            <a:off x="1058750" y="1011075"/>
            <a:ext cx="686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Difference between ventilation and oxygenation?</a:t>
            </a:r>
            <a:endParaRPr sz="1700">
              <a:solidFill>
                <a:schemeClr val="lt1"/>
              </a:solidFill>
            </a:endParaRPr>
          </a:p>
        </p:txBody>
      </p:sp>
      <p:graphicFrame>
        <p:nvGraphicFramePr>
          <p:cNvPr id="645" name="Google Shape;645;g3f197701899_0_447"/>
          <p:cNvGraphicFramePr/>
          <p:nvPr/>
        </p:nvGraphicFramePr>
        <p:xfrm>
          <a:off x="870800" y="170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{1199B090-F738-41EA-9B92-42F0957E465E}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FF0000"/>
                          </a:solidFill>
                        </a:rPr>
                        <a:t>Ventilation</a:t>
                      </a:r>
                      <a:endParaRPr b="1" sz="17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Moving air in and out of the lungs.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Question:</a:t>
                      </a:r>
                      <a:br>
                        <a:rPr lang="en-US" sz="1500">
                          <a:solidFill>
                            <a:schemeClr val="lt1"/>
                          </a:solidFill>
                        </a:rPr>
                      </a:b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"Is air moving?"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FF0000"/>
                          </a:solidFill>
                        </a:rPr>
                        <a:t>Oxygenation</a:t>
                      </a:r>
                      <a:endParaRPr b="1" sz="17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Getting oxygen into the bloodstream.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Question:</a:t>
                      </a:r>
                      <a:br>
                        <a:rPr lang="en-US" sz="1500">
                          <a:solidFill>
                            <a:schemeClr val="lt1"/>
                          </a:solidFill>
                        </a:rPr>
                      </a:b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"Is oxygen reaching the blood?"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197701899_0_346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197701899_0_346"/>
          <p:cNvSpPr txBox="1"/>
          <p:nvPr/>
        </p:nvSpPr>
        <p:spPr>
          <a:xfrm>
            <a:off x="1073525" y="612025"/>
            <a:ext cx="68631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Define hypoxia.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Define cyanosis.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stridor?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wheezing?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pulmonary edema?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COPD?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OPA or NPA for a patient with a gag reflex?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Flow rate for a nonrebreather?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Signs of respiratory failure?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Difference between ventilation and oxygenation?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197701899_0_340"/>
          <p:cNvSpPr txBox="1"/>
          <p:nvPr/>
        </p:nvSpPr>
        <p:spPr>
          <a:xfrm>
            <a:off x="0" y="-20700"/>
            <a:ext cx="88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FC5E8"/>
                </a:solidFill>
                <a:latin typeface="Arial"/>
                <a:ea typeface="Arial"/>
                <a:cs typeface="Arial"/>
                <a:sym typeface="Arial"/>
              </a:rPr>
              <a:t>Quick Review</a:t>
            </a:r>
            <a:endParaRPr b="1" i="0" sz="36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f197701899_0_340"/>
          <p:cNvSpPr txBox="1"/>
          <p:nvPr/>
        </p:nvSpPr>
        <p:spPr>
          <a:xfrm>
            <a:off x="1073525" y="612025"/>
            <a:ext cx="68631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Define hypoxia.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Define cyanosis.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stridor?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wheezing?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pulmonary edema?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What is COPD?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OPA or NPA for a patient with a gag reflex?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Flow rate for a nonrebreather?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Signs of respiratory failure?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-US" sz="1700">
                <a:solidFill>
                  <a:schemeClr val="lt1"/>
                </a:solidFill>
              </a:rPr>
              <a:t>Difference between ventilation and oxygenation?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dbf962bca_0_345"/>
          <p:cNvSpPr txBox="1"/>
          <p:nvPr/>
        </p:nvSpPr>
        <p:spPr>
          <a:xfrm>
            <a:off x="0" y="0"/>
            <a:ext cx="8443800" cy="5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Neurology Review Answers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Define aphasia.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loss or impairment of the ability to speak or understand language.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Define hemiparesis.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Weakness on one side of the body.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What does FAST stand for?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 droop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rm drift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peech difficulty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ime to call EMS/rapid transport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What is a TIA?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Transient Ischemic Attack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temporary interruption of blood flow to the brain that causes stroke-like symptoms which resolve.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What is status epilepticus?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seizure lasting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than 5 minutes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multiple seizures without regaining consciousness between them.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edbf962bca_0_352"/>
          <p:cNvSpPr txBox="1"/>
          <p:nvPr/>
        </p:nvSpPr>
        <p:spPr>
          <a:xfrm>
            <a:off x="117975" y="707825"/>
            <a:ext cx="8809500" cy="3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What is the GCS range?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to 15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= Normal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= Deeply unresponsive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What comes before a seizure?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aura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(warning sign or sensation).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What comes after a seizure?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postictal state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(recovery period).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What neurologic emergency can hypoglycemia mimic?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stroke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(it can also cause altered mental status and seizure-like symptoms).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What is the most important stroke history question?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"When was the patient last known normal?"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edbf962bca_0_230"/>
          <p:cNvSpPr txBox="1"/>
          <p:nvPr/>
        </p:nvSpPr>
        <p:spPr>
          <a:xfrm>
            <a:off x="3390625" y="2110050"/>
            <a:ext cx="223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D0E0E3"/>
                </a:solidFill>
                <a:latin typeface="Caveat"/>
                <a:ea typeface="Caveat"/>
                <a:cs typeface="Caveat"/>
                <a:sym typeface="Caveat"/>
              </a:rPr>
              <a:t>The End</a:t>
            </a:r>
            <a:endParaRPr b="1" i="0" sz="4800" u="none" cap="none" strike="noStrike">
              <a:solidFill>
                <a:srgbClr val="D0E0E3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2026-06-10T16:59:23Z</dcterms:created>
  <dc:creator>PptxGenJS</dc:creator>
</cp:coreProperties>
</file>